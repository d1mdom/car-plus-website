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F6B00"/>
                </a:solidFill>
                <a:latin typeface="Calibri"/>
              </a:rPr>
              <a:t>SUPABASE · REACT · VERCEL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697480"/>
            <a:ext cx="1060704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Car</a:t>
            </a:r>
            <a:r>
              <a:rPr sz="5200" b="1">
                <a:solidFill>
                  <a:srgbClr val="FF6B00"/>
                </a:solidFill>
                <a:latin typeface="Calibri"/>
              </a:rPr>
              <a:t>Plus</a:t>
            </a:r>
            <a:r>
              <a:rPr sz="2800" b="1">
                <a:solidFill>
                  <a:srgbClr val="FFFFFF"/>
                </a:solidFill>
                <a:latin typeface="Calibri"/>
              </a:rPr>
              <a:t>  —  Online Car Dealership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0">
                <a:solidFill>
                  <a:srgbClr val="B8C4D6"/>
                </a:solidFill>
                <a:latin typeface="Calibri"/>
              </a:rPr>
              <a:t>Added sections: ER Diagram · Context Diagram (DFD) · Deployment · Conclusion · References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FF6B00"/>
                </a:solidFill>
                <a:latin typeface="Calibri"/>
              </a:rPr>
              <a:t>Entity-Relationship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058400" cy="960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The </a:t>
            </a:r>
            <a:r>
              <a:rPr sz="3400" b="1">
                <a:solidFill>
                  <a:srgbClr val="FF6B00"/>
                </a:solidFill>
                <a:latin typeface="Calibri"/>
              </a:rPr>
              <a:t>database</a:t>
            </a:r>
            <a:r>
              <a:rPr sz="3400" b="1">
                <a:solidFill>
                  <a:srgbClr val="0F172A"/>
                </a:solidFill>
                <a:latin typeface="Calibri"/>
              </a:rPr>
              <a:t>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38912"/>
            <a:ext cx="1280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300" b="1">
                <a:solidFill>
                  <a:srgbClr val="94A3B8"/>
                </a:solidFill>
                <a:latin typeface="Calibri"/>
              </a:rPr>
              <a:t>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64208"/>
            <a:ext cx="10908792" cy="18288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24688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159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965960"/>
            <a:ext cx="2212848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Calibri"/>
              </a:rPr>
              <a:t>auth.users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" y="2295144"/>
            <a:ext cx="2212848" cy="13716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2368296"/>
            <a:ext cx="219456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id  PK  uuid</a:t>
            </a:r>
          </a:p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email  text</a:t>
            </a:r>
          </a:p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user_metadata  jsonb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29000"/>
            <a:ext cx="246888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159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3520440"/>
            <a:ext cx="2212848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Calibri"/>
              </a:rPr>
              <a:t>admin_users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" y="3849624"/>
            <a:ext cx="2212848" cy="13716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3922776"/>
            <a:ext cx="219456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id  PK  uuid</a:t>
            </a:r>
          </a:p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user_id  FK·UK  uuid</a:t>
            </a:r>
          </a:p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created_at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1874519" y="3017520"/>
            <a:ext cx="0" cy="411480"/>
          </a:xfrm>
          <a:prstGeom prst="line">
            <a:avLst/>
          </a:prstGeom>
          <a:ln w="22225">
            <a:solidFill>
              <a:srgbClr val="FF6B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60120" y="3054096"/>
            <a:ext cx="2194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FF6B00"/>
                </a:solidFill>
                <a:latin typeface="Calibri"/>
              </a:rPr>
              <a:t>user_id (unique)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1874519"/>
            <a:ext cx="260604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1590">
            <a:solidFill>
              <a:srgbClr val="FF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75304" y="1965960"/>
            <a:ext cx="2350008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Calibri"/>
              </a:rPr>
              <a:t>cars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57016" y="2295144"/>
            <a:ext cx="2350008" cy="13716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93592" y="2368296"/>
            <a:ext cx="2331720" cy="3794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id  PK  uuid</a:t>
            </a:r>
          </a:p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code  UK  text</a:t>
            </a:r>
          </a:p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name · model</a:t>
            </a:r>
          </a:p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year · price</a:t>
            </a:r>
          </a:p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status  enum</a:t>
            </a:r>
          </a:p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viewers  int</a:t>
            </a:r>
          </a:p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image · images[]</a:t>
            </a:r>
          </a:p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body_type</a:t>
            </a:r>
          </a:p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tax_status</a:t>
            </a:r>
          </a:p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condition</a:t>
            </a:r>
          </a:p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fuel_type · color</a:t>
            </a:r>
          </a:p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description[]</a:t>
            </a:r>
          </a:p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is_active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1874519"/>
            <a:ext cx="251460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159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1384" y="1965960"/>
            <a:ext cx="2258568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Calibri"/>
              </a:rPr>
              <a:t>banners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83096" y="2295144"/>
            <a:ext cx="2258568" cy="13716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9672" y="2368296"/>
            <a:ext cx="22402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id  PK  uuid</a:t>
            </a:r>
          </a:p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image  text</a:t>
            </a:r>
          </a:p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sort_order  int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3246120"/>
            <a:ext cx="25146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159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01384" y="3337560"/>
            <a:ext cx="2258568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Calibri"/>
              </a:rPr>
              <a:t>team_members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83096" y="3666744"/>
            <a:ext cx="2258568" cy="13716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9672" y="3739896"/>
            <a:ext cx="2240280" cy="868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id  PK  uuid</a:t>
            </a:r>
          </a:p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name · role</a:t>
            </a:r>
          </a:p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image</a:t>
            </a:r>
          </a:p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sort_order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484632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159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01384" y="4937759"/>
            <a:ext cx="2258568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Calibri"/>
              </a:rPr>
              <a:t>contact_info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83096" y="5266944"/>
            <a:ext cx="2258568" cy="13716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9672" y="5340096"/>
            <a:ext cx="224028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id  PK  (=1)</a:t>
            </a:r>
          </a:p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phone · telegram</a:t>
            </a:r>
          </a:p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facebook · map_link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0" y="1874519"/>
            <a:ext cx="2377440" cy="1828800"/>
          </a:xfrm>
          <a:prstGeom prst="roundRect">
            <a:avLst>
              <a:gd name="adj" fmla="val 6000"/>
            </a:avLst>
          </a:prstGeom>
          <a:solidFill>
            <a:srgbClr val="FFF3E8"/>
          </a:solidFill>
          <a:ln w="12700">
            <a:solidFill>
              <a:srgbClr val="FF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0" y="2011680"/>
            <a:ext cx="2057400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FF6B00"/>
                </a:solidFill>
                <a:latin typeface="Calibri"/>
              </a:rPr>
              <a:t>Notes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334155"/>
                </a:solidFill>
                <a:latin typeface="Calibri"/>
              </a:rPr>
              <a:t>Content tables have no FKs between them.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334155"/>
                </a:solidFill>
                <a:latin typeface="Calibri"/>
              </a:rPr>
              <a:t>Photos = URLs in the car-images storage bucket.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FF6B00"/>
                </a:solidFill>
                <a:latin typeface="Calibri"/>
              </a:rPr>
              <a:t>Context Diagram · DFD Level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058400" cy="960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The system at a </a:t>
            </a:r>
            <a:r>
              <a:rPr sz="3400" b="1">
                <a:solidFill>
                  <a:srgbClr val="FF6B00"/>
                </a:solidFill>
                <a:latin typeface="Calibri"/>
              </a:rPr>
              <a:t>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38912"/>
            <a:ext cx="1280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300" b="1">
                <a:solidFill>
                  <a:srgbClr val="94A3B8"/>
                </a:solidFill>
                <a:latin typeface="Calibri"/>
              </a:rPr>
              <a:t>DFD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64208"/>
            <a:ext cx="10908792" cy="18288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6099048" y="2148840"/>
            <a:ext cx="0" cy="822960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099048" y="4251959"/>
            <a:ext cx="0" cy="822961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063240" y="3611880"/>
            <a:ext cx="1783080" cy="0"/>
          </a:xfrm>
          <a:prstGeom prst="line">
            <a:avLst/>
          </a:prstGeom>
          <a:ln w="22225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7360920" y="3611880"/>
            <a:ext cx="1965960" cy="0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892040" y="3017520"/>
            <a:ext cx="2423160" cy="1188720"/>
          </a:xfrm>
          <a:prstGeom prst="roundRect">
            <a:avLst>
              <a:gd name="adj" fmla="val 6000"/>
            </a:avLst>
          </a:prstGeom>
          <a:solidFill>
            <a:srgbClr val="FFF3E8"/>
          </a:solidFill>
          <a:ln w="22860">
            <a:solidFill>
              <a:srgbClr val="FF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3063239"/>
            <a:ext cx="242316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Calibri"/>
              </a:rPr>
              <a:t>Car Plus</a:t>
            </a:r>
          </a:p>
          <a:p>
            <a:pPr algn="ctr"/>
            <a:r>
              <a:rPr sz="1250" b="0">
                <a:solidFill>
                  <a:srgbClr val="64748B"/>
                </a:solidFill>
                <a:latin typeface="Calibri"/>
              </a:rPr>
              <a:t>Web 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3108960"/>
            <a:ext cx="24231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100" b="1">
                <a:solidFill>
                  <a:srgbClr val="FF6B00"/>
                </a:solidFill>
                <a:latin typeface="Calibri"/>
              </a:rPr>
              <a:t>1.0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2040" y="2011680"/>
            <a:ext cx="242316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86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2057400"/>
            <a:ext cx="2423160" cy="7955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Calibri"/>
              </a:rPr>
              <a:t>Administrator</a:t>
            </a:r>
          </a:p>
          <a:p>
            <a:pPr algn="ctr"/>
            <a:r>
              <a:rPr sz="1050" b="0">
                <a:solidFill>
                  <a:srgbClr val="64748B"/>
                </a:solidFill>
                <a:latin typeface="Calibri"/>
              </a:rPr>
              <a:t>manages content · logs 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5074920"/>
            <a:ext cx="242316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86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5120640"/>
            <a:ext cx="2423160" cy="7955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Calibri"/>
              </a:rPr>
              <a:t>Visitor / Customer</a:t>
            </a:r>
          </a:p>
          <a:p>
            <a:pPr algn="ctr"/>
            <a:r>
              <a:rPr sz="1050" b="0">
                <a:solidFill>
                  <a:srgbClr val="64748B"/>
                </a:solidFill>
                <a:latin typeface="Calibri"/>
              </a:rPr>
              <a:t>browses · searches · wishlist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063240"/>
            <a:ext cx="2286000" cy="109728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 w="2286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108960"/>
            <a:ext cx="2286000" cy="1024127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600" b="1">
                <a:solidFill>
                  <a:srgbClr val="1E3A8A"/>
                </a:solidFill>
                <a:latin typeface="Calibri"/>
              </a:rPr>
              <a:t>Supabase</a:t>
            </a:r>
          </a:p>
          <a:p>
            <a:pPr algn="ctr"/>
            <a:r>
              <a:rPr sz="1050" b="0">
                <a:solidFill>
                  <a:srgbClr val="2563EB"/>
                </a:solidFill>
                <a:latin typeface="Calibri"/>
              </a:rPr>
              <a:t>Data · Auth · Storage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315468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86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3200400"/>
            <a:ext cx="2286000" cy="8412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Telegram</a:t>
            </a:r>
          </a:p>
          <a:p>
            <a:pPr algn="ctr"/>
            <a:r>
              <a:rPr sz="1050" b="0">
                <a:solidFill>
                  <a:srgbClr val="64748B"/>
                </a:solidFill>
                <a:latin typeface="Calibri"/>
              </a:rPr>
              <a:t>customer contact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651760"/>
            <a:ext cx="20116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Calibri"/>
              </a:rPr>
              <a:t>manage · login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663440"/>
            <a:ext cx="20116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Calibri"/>
              </a:rPr>
              <a:t>view listings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3337560"/>
            <a:ext cx="17373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2563EB"/>
                </a:solidFill>
                <a:latin typeface="Calibri"/>
              </a:rPr>
              <a:t>store / fetch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3337560"/>
            <a:ext cx="1463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Calibri"/>
              </a:rPr>
              <a:t>inquiry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FF6B00"/>
                </a:solidFill>
                <a:latin typeface="Calibri"/>
              </a:rPr>
              <a:t>Deployment &amp; Hosting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058400" cy="960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How </a:t>
            </a:r>
            <a:r>
              <a:rPr sz="3400" b="1">
                <a:solidFill>
                  <a:srgbClr val="FF6B00"/>
                </a:solidFill>
                <a:latin typeface="Calibri"/>
              </a:rPr>
              <a:t>Car Plus</a:t>
            </a:r>
            <a:r>
              <a:rPr sz="3400" b="1">
                <a:solidFill>
                  <a:srgbClr val="0F172A"/>
                </a:solidFill>
                <a:latin typeface="Calibri"/>
              </a:rPr>
              <a:t> goes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38912"/>
            <a:ext cx="1280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300" b="1">
                <a:solidFill>
                  <a:srgbClr val="94A3B8"/>
                </a:solidFill>
                <a:latin typeface="Calibri"/>
              </a:rPr>
              <a:t>★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64208"/>
            <a:ext cx="10908792" cy="18288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88136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50" b="0">
                <a:solidFill>
                  <a:srgbClr val="334155"/>
                </a:solidFill>
                <a:latin typeface="Calibri"/>
              </a:rPr>
              <a:t>Continuous deployment: code pushed to GitHub is built and deployed by Vercel automatically, running against a managed Supabase backend.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63240"/>
            <a:ext cx="228600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86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2286000" cy="10698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Local Dev</a:t>
            </a:r>
          </a:p>
          <a:p>
            <a:pPr algn="ctr"/>
            <a:r>
              <a:rPr sz="1050" b="0">
                <a:solidFill>
                  <a:srgbClr val="64748B"/>
                </a:solidFill>
                <a:latin typeface="Calibri"/>
              </a:rPr>
              <a:t>Vite · npm run dev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63239" y="3634740"/>
            <a:ext cx="320041" cy="0"/>
          </a:xfrm>
          <a:prstGeom prst="line">
            <a:avLst/>
          </a:prstGeom>
          <a:ln w="27940">
            <a:solidFill>
              <a:srgbClr val="FF6B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29000" y="3063240"/>
            <a:ext cx="228600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86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3108960"/>
            <a:ext cx="2286000" cy="10698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GitHub</a:t>
            </a:r>
          </a:p>
          <a:p>
            <a:pPr algn="ctr"/>
            <a:r>
              <a:rPr sz="1050" b="0">
                <a:solidFill>
                  <a:srgbClr val="64748B"/>
                </a:solidFill>
                <a:latin typeface="Calibri"/>
              </a:rPr>
              <a:t>main branch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720" y="3634740"/>
            <a:ext cx="320040" cy="0"/>
          </a:xfrm>
          <a:prstGeom prst="line">
            <a:avLst/>
          </a:prstGeom>
          <a:ln w="27940">
            <a:solidFill>
              <a:srgbClr val="FF6B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126480" y="3063240"/>
            <a:ext cx="2286000" cy="1143000"/>
          </a:xfrm>
          <a:prstGeom prst="roundRect">
            <a:avLst>
              <a:gd name="adj" fmla="val 6000"/>
            </a:avLst>
          </a:prstGeom>
          <a:solidFill>
            <a:srgbClr val="FFF3E8"/>
          </a:solidFill>
          <a:ln w="22860">
            <a:solidFill>
              <a:srgbClr val="FF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3108960"/>
            <a:ext cx="2286000" cy="10698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Vercel</a:t>
            </a:r>
          </a:p>
          <a:p>
            <a:pPr algn="ctr"/>
            <a:r>
              <a:rPr sz="1050" b="0">
                <a:solidFill>
                  <a:srgbClr val="64748B"/>
                </a:solidFill>
                <a:latin typeface="Calibri"/>
              </a:rPr>
              <a:t>auto build &amp; deploy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58200" y="3634740"/>
            <a:ext cx="320040" cy="0"/>
          </a:xfrm>
          <a:prstGeom prst="line">
            <a:avLst/>
          </a:prstGeom>
          <a:ln w="27940">
            <a:solidFill>
              <a:srgbClr val="FF6B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823960" y="3063240"/>
            <a:ext cx="2286000" cy="114300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 w="2286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3108960"/>
            <a:ext cx="2286000" cy="10698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Supabase</a:t>
            </a:r>
          </a:p>
          <a:p>
            <a:pPr algn="ctr"/>
            <a:r>
              <a:rPr sz="1050" b="0">
                <a:solidFill>
                  <a:srgbClr val="64748B"/>
                </a:solidFill>
                <a:latin typeface="Calibri"/>
              </a:rPr>
              <a:t>DB · Auth · Storage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892040"/>
            <a:ext cx="5349240" cy="5486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892040"/>
            <a:ext cx="512064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Build: Vite → static bundle (dist/)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4892040"/>
            <a:ext cx="5349240" cy="5486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92040"/>
            <a:ext cx="512064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CI/CD: push to main → Vercel redeploys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550407"/>
            <a:ext cx="5349240" cy="5486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50407"/>
            <a:ext cx="512064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Config: env vars hold Supabase keys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5550407"/>
            <a:ext cx="5349240" cy="5486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5550407"/>
            <a:ext cx="512064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Routing: SPA rewrite (vercel.json)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FF6B00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058400" cy="960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What we </a:t>
            </a:r>
            <a:r>
              <a:rPr sz="3400" b="1">
                <a:solidFill>
                  <a:srgbClr val="FF6B00"/>
                </a:solidFill>
                <a:latin typeface="Calibri"/>
              </a:rPr>
              <a:t>built</a:t>
            </a:r>
            <a:r>
              <a:rPr sz="3400" b="1">
                <a:solidFill>
                  <a:srgbClr val="0F172A"/>
                </a:solidFill>
                <a:latin typeface="Calibri"/>
              </a:rPr>
              <a:t> — and 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38912"/>
            <a:ext cx="1280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300" b="1">
                <a:solidFill>
                  <a:srgbClr val="94A3B8"/>
                </a:solidFill>
                <a:latin typeface="Calibri"/>
              </a:rPr>
              <a:t>★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64208"/>
            <a:ext cx="10908792" cy="18288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53035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1">
                <a:solidFill>
                  <a:srgbClr val="64748B"/>
                </a:solidFill>
                <a:latin typeface="Calibri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5212080" cy="3840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800"/>
              </a:spcBef>
            </a:pPr>
            <a:r>
              <a:rPr sz="1400" b="1">
                <a:solidFill>
                  <a:srgbClr val="FF6B00"/>
                </a:solidFill>
                <a:latin typeface="Calibri"/>
              </a:rPr>
              <a:t>▸  </a:t>
            </a:r>
            <a:r>
              <a:rPr sz="1400" b="0">
                <a:solidFill>
                  <a:srgbClr val="334155"/>
                </a:solidFill>
                <a:latin typeface="Calibri"/>
              </a:rPr>
              <a:t>A complete car-dealership website with a public catalogue and full admin CMS.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FF6B00"/>
                </a:solidFill>
                <a:latin typeface="Calibri"/>
              </a:rPr>
              <a:t>▸  </a:t>
            </a:r>
            <a:r>
              <a:rPr sz="1400" b="0">
                <a:solidFill>
                  <a:srgbClr val="334155"/>
                </a:solidFill>
                <a:latin typeface="Calibri"/>
              </a:rPr>
              <a:t>Admins manage cars, banners, team, and contact — no code needed.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FF6B00"/>
                </a:solidFill>
                <a:latin typeface="Calibri"/>
              </a:rPr>
              <a:t>▸  </a:t>
            </a:r>
            <a:r>
              <a:rPr sz="1400" b="0">
                <a:solidFill>
                  <a:srgbClr val="334155"/>
                </a:solidFill>
                <a:latin typeface="Calibri"/>
              </a:rPr>
              <a:t>Secure accounts: login, signup, and password reset, protected by RLS.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FF6B00"/>
                </a:solidFill>
                <a:latin typeface="Calibri"/>
              </a:rPr>
              <a:t>▸  </a:t>
            </a:r>
            <a:r>
              <a:rPr sz="1400" b="0">
                <a:solidFill>
                  <a:srgbClr val="334155"/>
                </a:solidFill>
                <a:latin typeface="Calibri"/>
              </a:rPr>
              <a:t>Deployed live on Vercel with a managed Supabase backend.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74519"/>
            <a:ext cx="53035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1">
                <a:solidFill>
                  <a:srgbClr val="64748B"/>
                </a:solidFill>
                <a:latin typeface="Calibri"/>
              </a:rPr>
              <a:t>FUTURE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286000"/>
            <a:ext cx="5212080" cy="3840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800"/>
              </a:spcBef>
            </a:pPr>
            <a:r>
              <a:rPr sz="1400" b="1">
                <a:solidFill>
                  <a:srgbClr val="FF6B00"/>
                </a:solidFill>
                <a:latin typeface="Calibri"/>
              </a:rPr>
              <a:t>▸  </a:t>
            </a:r>
            <a:r>
              <a:rPr sz="1400" b="0">
                <a:solidFill>
                  <a:srgbClr val="334155"/>
                </a:solidFill>
                <a:latin typeface="Calibri"/>
              </a:rPr>
              <a:t>Online ordering &amp; payment integration.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FF6B00"/>
                </a:solidFill>
                <a:latin typeface="Calibri"/>
              </a:rPr>
              <a:t>▸  </a:t>
            </a:r>
            <a:r>
              <a:rPr sz="1400" b="0">
                <a:solidFill>
                  <a:srgbClr val="334155"/>
                </a:solidFill>
                <a:latin typeface="Calibri"/>
              </a:rPr>
              <a:t>Account-synced wishlist across devices.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FF6B00"/>
                </a:solidFill>
                <a:latin typeface="Calibri"/>
              </a:rPr>
              <a:t>▸  </a:t>
            </a:r>
            <a:r>
              <a:rPr sz="1400" b="0">
                <a:solidFill>
                  <a:srgbClr val="334155"/>
                </a:solidFill>
                <a:latin typeface="Calibri"/>
              </a:rPr>
              <a:t>Branded email from a custom domain (SMTP).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FF6B00"/>
                </a:solidFill>
                <a:latin typeface="Calibri"/>
              </a:rPr>
              <a:t>▸  </a:t>
            </a:r>
            <a:r>
              <a:rPr sz="1400" b="0">
                <a:solidFill>
                  <a:srgbClr val="334155"/>
                </a:solidFill>
                <a:latin typeface="Calibri"/>
              </a:rPr>
              <a:t>Sales analytics &amp; reporting dashboard.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FF6B00"/>
                </a:solidFill>
                <a:latin typeface="Calibri"/>
              </a:rPr>
              <a:t>▸  </a:t>
            </a:r>
            <a:r>
              <a:rPr sz="1400" b="0">
                <a:solidFill>
                  <a:srgbClr val="334155"/>
                </a:solidFill>
                <a:latin typeface="Calibri"/>
              </a:rPr>
              <a:t>Full Khmer / English language toggle.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989320"/>
            <a:ext cx="10744200" cy="5486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989320"/>
            <a:ext cx="1042416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FF6B00"/>
                </a:solidFill>
                <a:latin typeface="Calibri"/>
              </a:rPr>
              <a:t>Stack:  </a:t>
            </a:r>
            <a:r>
              <a:rPr sz="1300" b="0">
                <a:solidFill>
                  <a:srgbClr val="334155"/>
                </a:solidFill>
                <a:latin typeface="Calibri"/>
              </a:rPr>
              <a:t>React · Vite · Tailwind · shadcn/ui · Supabase · Vercel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FF6B00"/>
                </a:solidFill>
                <a:latin typeface="Calibri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76656"/>
            <a:ext cx="10058400" cy="960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Tools &amp; </a:t>
            </a:r>
            <a:r>
              <a:rPr sz="3400" b="1">
                <a:solidFill>
                  <a:srgbClr val="FF6B00"/>
                </a:solidFill>
                <a:latin typeface="Calibri"/>
              </a:rPr>
              <a:t>technologies</a:t>
            </a:r>
            <a:r>
              <a:rPr sz="3400" b="1">
                <a:solidFill>
                  <a:srgbClr val="0F172A"/>
                </a:solidFill>
                <a:latin typeface="Calibri"/>
              </a:rPr>
              <a:t>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38912"/>
            <a:ext cx="1280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300" b="1">
                <a:solidFill>
                  <a:srgbClr val="94A3B8"/>
                </a:solidFill>
                <a:latin typeface="Calibri"/>
              </a:rPr>
              <a:t>REF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64208"/>
            <a:ext cx="10908792" cy="18288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57400"/>
            <a:ext cx="534924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2276856"/>
            <a:ext cx="347472" cy="347472"/>
          </a:xfrm>
          <a:prstGeom prst="roundRect">
            <a:avLst>
              <a:gd name="adj" fmla="val 6000"/>
            </a:avLst>
          </a:prstGeom>
          <a:solidFill>
            <a:srgbClr val="FF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58568"/>
            <a:ext cx="36576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6B00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167128"/>
            <a:ext cx="43891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React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478024"/>
            <a:ext cx="4389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0">
                <a:solidFill>
                  <a:srgbClr val="2563EB"/>
                </a:solidFill>
                <a:latin typeface="Calibri"/>
              </a:rPr>
              <a:t>https://react.dev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057400"/>
            <a:ext cx="534924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92240" y="2276856"/>
            <a:ext cx="347472" cy="347472"/>
          </a:xfrm>
          <a:prstGeom prst="roundRect">
            <a:avLst>
              <a:gd name="adj" fmla="val 6000"/>
            </a:avLst>
          </a:prstGeom>
          <a:solidFill>
            <a:srgbClr val="FF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258568"/>
            <a:ext cx="36576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6B00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79" y="2167128"/>
            <a:ext cx="43891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Vite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79" y="2478024"/>
            <a:ext cx="4389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0">
                <a:solidFill>
                  <a:srgbClr val="2563EB"/>
                </a:solidFill>
                <a:latin typeface="Calibri"/>
              </a:rPr>
              <a:t>https://vitejs.dev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990088"/>
            <a:ext cx="534924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20" y="3209544"/>
            <a:ext cx="347472" cy="347472"/>
          </a:xfrm>
          <a:prstGeom prst="roundRect">
            <a:avLst>
              <a:gd name="adj" fmla="val 6000"/>
            </a:avLst>
          </a:prstGeom>
          <a:solidFill>
            <a:srgbClr val="FF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191256"/>
            <a:ext cx="36576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6B00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099816"/>
            <a:ext cx="43891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Tailwind CSS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410712"/>
            <a:ext cx="4389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0">
                <a:solidFill>
                  <a:srgbClr val="2563EB"/>
                </a:solidFill>
                <a:latin typeface="Calibri"/>
              </a:rPr>
              <a:t>https://tailwindcss.com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2990088"/>
            <a:ext cx="534924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0" y="3209544"/>
            <a:ext cx="347472" cy="347472"/>
          </a:xfrm>
          <a:prstGeom prst="roundRect">
            <a:avLst>
              <a:gd name="adj" fmla="val 6000"/>
            </a:avLst>
          </a:prstGeom>
          <a:solidFill>
            <a:srgbClr val="FF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191256"/>
            <a:ext cx="36576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6B00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79" y="3099816"/>
            <a:ext cx="43891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shadcn/ui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79" y="3410712"/>
            <a:ext cx="4389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0">
                <a:solidFill>
                  <a:srgbClr val="2563EB"/>
                </a:solidFill>
                <a:latin typeface="Calibri"/>
              </a:rPr>
              <a:t>https://ui.shadcn.com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922776"/>
            <a:ext cx="534924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60120" y="4142232"/>
            <a:ext cx="347472" cy="347472"/>
          </a:xfrm>
          <a:prstGeom prst="roundRect">
            <a:avLst>
              <a:gd name="adj" fmla="val 6000"/>
            </a:avLst>
          </a:prstGeom>
          <a:solidFill>
            <a:srgbClr val="FF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123944"/>
            <a:ext cx="36576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6B00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4032504"/>
            <a:ext cx="43891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Supabase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4343400"/>
            <a:ext cx="4389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0">
                <a:solidFill>
                  <a:srgbClr val="2563EB"/>
                </a:solidFill>
                <a:latin typeface="Calibri"/>
              </a:rPr>
              <a:t>https://supabase.com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3922776"/>
            <a:ext cx="534924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92240" y="4142232"/>
            <a:ext cx="347472" cy="347472"/>
          </a:xfrm>
          <a:prstGeom prst="roundRect">
            <a:avLst>
              <a:gd name="adj" fmla="val 6000"/>
            </a:avLst>
          </a:prstGeom>
          <a:solidFill>
            <a:srgbClr val="FF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4123944"/>
            <a:ext cx="36576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6B00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79" y="4032504"/>
            <a:ext cx="43891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Vercel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79" y="4343400"/>
            <a:ext cx="4389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0">
                <a:solidFill>
                  <a:srgbClr val="2563EB"/>
                </a:solidFill>
                <a:latin typeface="Calibri"/>
              </a:rPr>
              <a:t>https://vercel.com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4855464"/>
            <a:ext cx="534924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60120" y="5074920"/>
            <a:ext cx="347472" cy="347472"/>
          </a:xfrm>
          <a:prstGeom prst="roundRect">
            <a:avLst>
              <a:gd name="adj" fmla="val 6000"/>
            </a:avLst>
          </a:prstGeom>
          <a:solidFill>
            <a:srgbClr val="FF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5056632"/>
            <a:ext cx="36576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6B00"/>
                </a:solidFill>
                <a:latin typeface="Calibri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08760" y="4965192"/>
            <a:ext cx="43891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TanStack Query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08760" y="5276088"/>
            <a:ext cx="4389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0">
                <a:solidFill>
                  <a:srgbClr val="2563EB"/>
                </a:solidFill>
                <a:latin typeface="Calibri"/>
              </a:rPr>
              <a:t>https://tanstack.com/query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63640" y="4855464"/>
            <a:ext cx="534924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492240" y="5074920"/>
            <a:ext cx="347472" cy="347472"/>
          </a:xfrm>
          <a:prstGeom prst="roundRect">
            <a:avLst>
              <a:gd name="adj" fmla="val 6000"/>
            </a:avLst>
          </a:prstGeom>
          <a:solidFill>
            <a:srgbClr val="FF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0" y="5056632"/>
            <a:ext cx="36576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FF6B00"/>
                </a:solidFill>
                <a:latin typeface="Calibri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79" y="4965192"/>
            <a:ext cx="43891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Lucide Icons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0879" y="5276088"/>
            <a:ext cx="4389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0">
                <a:solidFill>
                  <a:srgbClr val="2563EB"/>
                </a:solidFill>
                <a:latin typeface="Calibri"/>
              </a:rPr>
              <a:t>https://lucide.dev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